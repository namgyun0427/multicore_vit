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6" r:id="rId10"/>
  </p:sldIdLst>
  <p:sldSz cx="18288000" cy="10287000"/>
  <p:notesSz cx="6858000" cy="9144000"/>
  <p:embeddedFontLst>
    <p:embeddedFont>
      <p:font typeface="Pretendard Medium" panose="020B0600000101010101" charset="-127"/>
      <p:bold r:id="rId11"/>
    </p:embeddedFont>
    <p:embeddedFont>
      <p:font typeface="Pretendard Regular" panose="020B0600000101010101" charset="-127"/>
      <p:regular r:id="rId12"/>
    </p:embeddedFont>
    <p:embeddedFont>
      <p:font typeface="Pretendard SemiBold" panose="020B0600000101010101" charset="-127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4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8674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0" y="419100"/>
            <a:ext cx="2832100" cy="1498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995400" y="800100"/>
            <a:ext cx="20447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1900" b="0" i="0" u="none" strike="noStrike" spc="100">
                <a:solidFill>
                  <a:srgbClr val="FFFFFF"/>
                </a:solidFill>
                <a:latin typeface="Pretendard Medium"/>
              </a:rPr>
              <a:t>Sejong</a:t>
            </a:r>
          </a:p>
          <a:p>
            <a:pPr lvl="0" algn="ctr">
              <a:lnSpc>
                <a:spcPct val="107899"/>
              </a:lnSpc>
            </a:pPr>
            <a:r>
              <a:rPr lang="en-US" sz="1900" b="0" i="0" u="none" strike="noStrike" spc="100">
                <a:solidFill>
                  <a:srgbClr val="FFFFFF"/>
                </a:solidFill>
                <a:latin typeface="Pretendard Medium"/>
              </a:rPr>
              <a:t>University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16100" y="6210300"/>
            <a:ext cx="77724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3000" b="0" i="0" u="none" strike="noStrike" dirty="0">
              <a:solidFill>
                <a:srgbClr val="5D6DBE"/>
              </a:solidFill>
              <a:latin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52600" y="6501376"/>
            <a:ext cx="65532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4539"/>
              </a:lnSpc>
            </a:pPr>
            <a:r>
              <a:rPr lang="en-US" altLang="ko-KR" sz="2800" b="0" i="0" u="none" strike="noStrike" spc="100" dirty="0">
                <a:solidFill>
                  <a:srgbClr val="00074E"/>
                </a:solidFill>
                <a:ea typeface="Pretendard Medium"/>
              </a:rPr>
              <a:t>8</a:t>
            </a:r>
            <a:r>
              <a:rPr lang="ko-KR" altLang="en-US" sz="2800" b="0" i="0" u="none" strike="noStrike" spc="100" dirty="0">
                <a:solidFill>
                  <a:srgbClr val="00074E"/>
                </a:solidFill>
                <a:ea typeface="Pretendard Medium"/>
              </a:rPr>
              <a:t>조 </a:t>
            </a:r>
            <a:r>
              <a:rPr lang="ko-KR" altLang="en-US" sz="2400" b="0" i="0" u="none" strike="noStrike" spc="100" dirty="0">
                <a:solidFill>
                  <a:srgbClr val="00074E"/>
                </a:solidFill>
                <a:ea typeface="Pretendard Medium"/>
              </a:rPr>
              <a:t>사다리</a:t>
            </a:r>
            <a:r>
              <a:rPr lang="en-US" altLang="ko-KR" sz="2400" b="0" i="0" u="none" strike="noStrike" spc="100" dirty="0">
                <a:solidFill>
                  <a:srgbClr val="00074E"/>
                </a:solidFill>
                <a:ea typeface="Pretendard Medium"/>
              </a:rPr>
              <a:t>: </a:t>
            </a:r>
            <a:r>
              <a:rPr lang="en-US" sz="2400" b="0" i="0" u="none" strike="noStrike" spc="100" dirty="0">
                <a:solidFill>
                  <a:srgbClr val="00074E"/>
                </a:solidFill>
                <a:latin typeface="Pretendard Medium"/>
              </a:rPr>
              <a:t>20011665 </a:t>
            </a:r>
            <a:r>
              <a:rPr lang="ko-KR" sz="2400" b="0" i="0" u="none" strike="noStrike" spc="100" dirty="0">
                <a:solidFill>
                  <a:srgbClr val="00074E"/>
                </a:solidFill>
                <a:ea typeface="Pretendard Medium"/>
              </a:rPr>
              <a:t>김남균</a:t>
            </a:r>
            <a:r>
              <a:rPr lang="en-US" altLang="ko-KR" sz="2400" b="0" i="0" u="none" strike="noStrike" spc="100" dirty="0">
                <a:solidFill>
                  <a:srgbClr val="00074E"/>
                </a:solidFill>
                <a:ea typeface="Pretendard Medium"/>
              </a:rPr>
              <a:t>, </a:t>
            </a:r>
            <a:r>
              <a:rPr lang="en-US" altLang="ko-KR" sz="2400" b="1" i="0" u="none" strike="noStrike" spc="100" dirty="0">
                <a:solidFill>
                  <a:srgbClr val="00074E"/>
                </a:solidFill>
                <a:ea typeface="Pretendard Medium"/>
              </a:rPr>
              <a:t>21011611</a:t>
            </a:r>
            <a:r>
              <a:rPr lang="en-US" altLang="ko-KR" sz="2400" b="0" i="0" u="none" strike="noStrike" spc="100" dirty="0">
                <a:solidFill>
                  <a:srgbClr val="00074E"/>
                </a:solidFill>
                <a:ea typeface="Pretendard Medium"/>
              </a:rPr>
              <a:t> </a:t>
            </a:r>
            <a:r>
              <a:rPr lang="ko-KR" altLang="en-US" sz="2400" b="0" i="0" u="none" strike="noStrike" spc="100" dirty="0">
                <a:solidFill>
                  <a:srgbClr val="00074E"/>
                </a:solidFill>
                <a:ea typeface="Pretendard Medium"/>
              </a:rPr>
              <a:t>김도현</a:t>
            </a:r>
            <a:endParaRPr lang="ko-KR" sz="2400" b="0" i="0" u="none" strike="noStrike" spc="100" dirty="0">
              <a:solidFill>
                <a:srgbClr val="00074E"/>
              </a:solidFill>
              <a:ea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16100" y="3111500"/>
            <a:ext cx="14452600" cy="316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10000" b="0" i="0" u="none" strike="noStrike" dirty="0">
                <a:solidFill>
                  <a:srgbClr val="00074E"/>
                </a:solidFill>
                <a:latin typeface="Pretendard SemiBold"/>
              </a:rPr>
              <a:t>멀티코어 프로젝트 발표</a:t>
            </a:r>
            <a:endParaRPr lang="en-US" sz="100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303D4E-B2A6-9789-7BFB-4EFF921D918B}"/>
              </a:ext>
            </a:extLst>
          </p:cNvPr>
          <p:cNvSpPr txBox="1"/>
          <p:nvPr/>
        </p:nvSpPr>
        <p:spPr>
          <a:xfrm>
            <a:off x="1676400" y="7915116"/>
            <a:ext cx="9151374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4539"/>
              </a:lnSpc>
            </a:pPr>
            <a:r>
              <a:rPr lang="ko-KR" altLang="en-US" sz="1800" b="0" i="0" u="none" strike="noStrike" spc="100" dirty="0">
                <a:solidFill>
                  <a:srgbClr val="00074E"/>
                </a:solidFill>
                <a:ea typeface="Pretendard Medium"/>
              </a:rPr>
              <a:t>발표자</a:t>
            </a:r>
            <a:r>
              <a:rPr lang="en-US" altLang="ko-KR" sz="1800" b="0" i="0" u="none" strike="noStrike" spc="100" dirty="0">
                <a:solidFill>
                  <a:srgbClr val="00074E"/>
                </a:solidFill>
                <a:ea typeface="Pretendard Medium"/>
              </a:rPr>
              <a:t>:</a:t>
            </a:r>
            <a:endParaRPr lang="ko-KR" altLang="ko-KR" sz="1800" b="0" i="0" u="none" strike="noStrike" spc="100" dirty="0">
              <a:solidFill>
                <a:srgbClr val="00074E"/>
              </a:solidFill>
              <a:ea typeface="Pretendar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073400"/>
            <a:ext cx="26670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013700" y="2552700"/>
            <a:ext cx="558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 dirty="0">
                <a:solidFill>
                  <a:srgbClr val="4A5BA3"/>
                </a:solidFill>
                <a:latin typeface="Pretendard Medium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81800" y="3365500"/>
            <a:ext cx="3009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000" b="0" i="0" u="none" strike="noStrike" dirty="0">
                <a:solidFill>
                  <a:srgbClr val="00074E"/>
                </a:solidFill>
                <a:ea typeface="Pretendard SemiBold"/>
              </a:rPr>
              <a:t>사용할 기법</a:t>
            </a:r>
            <a:endParaRPr lang="en-US" sz="30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197600"/>
            <a:ext cx="26670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13700" y="5702300"/>
            <a:ext cx="558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>
                <a:solidFill>
                  <a:srgbClr val="4A5BA3"/>
                </a:solidFill>
                <a:latin typeface="Pretendard Medium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97700" y="6527800"/>
            <a:ext cx="26162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000" b="0" i="0" u="none" strike="noStrike" dirty="0">
                <a:solidFill>
                  <a:srgbClr val="00074E"/>
                </a:solidFill>
                <a:ea typeface="Pretendard SemiBold"/>
              </a:rPr>
              <a:t>시행착오</a:t>
            </a:r>
            <a:endParaRPr lang="ko-KR" sz="30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060700"/>
            <a:ext cx="2667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455400" y="2552700"/>
            <a:ext cx="558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>
                <a:solidFill>
                  <a:srgbClr val="4A5BA3"/>
                </a:solidFill>
                <a:latin typeface="Pretendard Medium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83800" y="3365500"/>
            <a:ext cx="3289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000" dirty="0">
                <a:solidFill>
                  <a:srgbClr val="00074E"/>
                </a:solidFill>
                <a:ea typeface="Pretendard SemiBold"/>
              </a:rPr>
              <a:t>적용한 병렬처리 기법</a:t>
            </a:r>
            <a:endParaRPr lang="ko-KR" altLang="ko-KR" sz="3000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700" y="6197600"/>
            <a:ext cx="3238500" cy="12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455400" y="5702300"/>
            <a:ext cx="558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>
                <a:solidFill>
                  <a:srgbClr val="4A5BA3"/>
                </a:solidFill>
                <a:latin typeface="Pretendard Medium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44100" y="6235700"/>
            <a:ext cx="3568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000" b="0" i="0" u="none" strike="noStrike" dirty="0">
                <a:solidFill>
                  <a:srgbClr val="00074E"/>
                </a:solidFill>
                <a:ea typeface="Pretendard SemiBold"/>
              </a:rPr>
              <a:t>역할 배분 및 기여도</a:t>
            </a:r>
            <a:endParaRPr lang="ko-KR" sz="30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4400" y="3048000"/>
            <a:ext cx="3162300" cy="12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5049500" y="2552700"/>
            <a:ext cx="558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>
                <a:solidFill>
                  <a:srgbClr val="4A5BA3"/>
                </a:solidFill>
                <a:latin typeface="Pretendard Medium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52500" y="3365500"/>
            <a:ext cx="3263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000" dirty="0">
                <a:solidFill>
                  <a:srgbClr val="00074E"/>
                </a:solidFill>
                <a:ea typeface="Pretendard SemiBold"/>
              </a:rPr>
              <a:t>전체적인 성능 변화</a:t>
            </a:r>
            <a:endParaRPr lang="ko-KR" sz="30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14400" y="6210300"/>
            <a:ext cx="3263900" cy="12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011400" y="5702300"/>
            <a:ext cx="558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000" b="0" i="0" u="none" strike="noStrike" dirty="0">
                <a:solidFill>
                  <a:srgbClr val="4A5BA3"/>
                </a:solidFill>
                <a:latin typeface="Pretendard Medium"/>
              </a:rPr>
              <a:t>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27100" y="6464300"/>
            <a:ext cx="33401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000" b="0" i="0" u="none" strike="noStrike" dirty="0">
                <a:solidFill>
                  <a:srgbClr val="00074E"/>
                </a:solidFill>
                <a:ea typeface="Pretendard SemiBold"/>
              </a:rPr>
              <a:t>느낀 점</a:t>
            </a:r>
            <a:endParaRPr lang="ko-KR" sz="30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600" y="419100"/>
            <a:ext cx="2832100" cy="1498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511300" y="952500"/>
            <a:ext cx="2044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1900" b="0" i="0" u="none" strike="noStrike" spc="100">
                <a:solidFill>
                  <a:srgbClr val="FFFFFF"/>
                </a:solidFill>
                <a:latin typeface="Pretendard Medium"/>
              </a:rPr>
              <a:t>Sejong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0500" y="4584700"/>
            <a:ext cx="4724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74E"/>
                </a:solidFill>
                <a:latin typeface="Pretendard Semi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003300"/>
            <a:ext cx="88900" cy="482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81100" y="2235200"/>
            <a:ext cx="15328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500" b="0" i="0" u="none" strike="noStrike" dirty="0">
                <a:solidFill>
                  <a:srgbClr val="00074E"/>
                </a:solidFill>
                <a:ea typeface="Pretendard SemiBold"/>
              </a:rPr>
              <a:t>병렬처리 전략</a:t>
            </a:r>
            <a:endParaRPr lang="en-US" sz="35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81100" y="3225800"/>
            <a:ext cx="15316200" cy="546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3000" b="1" i="0" u="none" strike="noStrike" dirty="0">
                <a:solidFill>
                  <a:srgbClr val="2C2C2C"/>
                </a:solidFill>
                <a:ea typeface="Pretendard SemiBold"/>
              </a:rPr>
              <a:t>Unloop, unroll</a:t>
            </a:r>
          </a:p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3000" b="1" dirty="0" err="1">
                <a:solidFill>
                  <a:srgbClr val="2C2C2C"/>
                </a:solidFill>
                <a:ea typeface="Pretendard SemiBold"/>
              </a:rPr>
              <a:t>타일링</a:t>
            </a:r>
            <a:endParaRPr lang="ko-KR" sz="3000" b="1" i="0" u="none" strike="noStrike" dirty="0">
              <a:solidFill>
                <a:srgbClr val="2C2C2C"/>
              </a:solidFill>
              <a:ea typeface="Pretendard SemiBold"/>
            </a:endParaRPr>
          </a:p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3000" b="1" i="0" u="none" strike="noStrike" dirty="0" err="1">
                <a:solidFill>
                  <a:srgbClr val="2C2C2C"/>
                </a:solidFill>
                <a:ea typeface="Pretendard SemiBold"/>
              </a:rPr>
              <a:t>리덕션</a:t>
            </a:r>
            <a:endParaRPr lang="ko-KR" sz="3000" b="1" i="0" u="none" strike="noStrike" dirty="0">
              <a:solidFill>
                <a:srgbClr val="2C2C2C"/>
              </a:solidFill>
              <a:ea typeface="Pretendard SemiBold"/>
            </a:endParaRPr>
          </a:p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3000" b="1" dirty="0">
                <a:solidFill>
                  <a:srgbClr val="2C2C2C"/>
                </a:solidFill>
                <a:ea typeface="Pretendard SemiBold"/>
              </a:rPr>
              <a:t>벡터 데이터 타입 </a:t>
            </a:r>
            <a:r>
              <a:rPr lang="en-US" altLang="ko-KR" sz="3000" b="1" dirty="0">
                <a:solidFill>
                  <a:srgbClr val="2C2C2C"/>
                </a:solidFill>
                <a:ea typeface="Pretendard SemiBold"/>
              </a:rPr>
              <a:t>(float4, vload4)</a:t>
            </a:r>
            <a:endParaRPr lang="ko-KR" altLang="ko-KR" sz="3000" b="1" dirty="0">
              <a:solidFill>
                <a:srgbClr val="2C2C2C"/>
              </a:solidFill>
              <a:ea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81100" y="990600"/>
            <a:ext cx="162179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7899"/>
              </a:lnSpc>
            </a:pPr>
            <a:r>
              <a:rPr lang="en-US" sz="3000" b="0" i="0" u="none" strike="noStrike" dirty="0">
                <a:solidFill>
                  <a:srgbClr val="00074E"/>
                </a:solidFill>
                <a:latin typeface="Pretendard SemiBold"/>
              </a:rPr>
              <a:t>Chapter01.</a:t>
            </a:r>
            <a:r>
              <a:rPr lang="ko-KR" altLang="en-US" sz="3000" dirty="0">
                <a:solidFill>
                  <a:srgbClr val="00074E"/>
                </a:solidFill>
                <a:ea typeface="Pretendard SemiBold"/>
              </a:rPr>
              <a:t> 사용할 기법</a:t>
            </a:r>
            <a:endParaRPr lang="en-US" altLang="ko-KR" sz="3000" dirty="0">
              <a:solidFill>
                <a:srgbClr val="00074E"/>
              </a:solidFill>
              <a:latin typeface="Pretendard SemiBold"/>
            </a:endParaRPr>
          </a:p>
          <a:p>
            <a:pPr lvl="0" algn="l">
              <a:lnSpc>
                <a:spcPct val="107899"/>
              </a:lnSpc>
            </a:pPr>
            <a:endParaRPr lang="en-US" sz="30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6ECF79-A7E6-7977-3F29-2880E74CD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003300"/>
            <a:ext cx="3529165" cy="5979547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C5893A-A6F5-8E04-41C8-A7B6B67EF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4767" y="1003300"/>
            <a:ext cx="3529165" cy="5990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606926"/>
            <a:ext cx="170434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003300"/>
            <a:ext cx="88900" cy="1016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68400" y="1003300"/>
            <a:ext cx="162941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900" i="0" u="none" strike="noStrike" dirty="0">
                <a:solidFill>
                  <a:srgbClr val="00074E"/>
                </a:solidFill>
                <a:latin typeface="Pretendard SemiBold"/>
              </a:rPr>
              <a:t>사용한 병렬 처</a:t>
            </a:r>
            <a:r>
              <a:rPr lang="ko-KR" altLang="en-US" sz="5900" b="0" i="0" u="none" strike="noStrike" dirty="0">
                <a:solidFill>
                  <a:srgbClr val="00074E"/>
                </a:solidFill>
                <a:latin typeface="Pretendard SemiBold"/>
              </a:rPr>
              <a:t>리 기법</a:t>
            </a:r>
            <a:endParaRPr lang="en-US" sz="590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96200" y="2705100"/>
            <a:ext cx="80391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000000"/>
                </a:solidFill>
                <a:latin typeface="Pretendard SemiBold"/>
                <a:ea typeface="Pretendard SemiBold"/>
              </a:rPr>
              <a:t>이벤트 활용해 일관성 부여</a:t>
            </a:r>
            <a:endParaRPr lang="en-US" altLang="ko-KR" sz="2200" dirty="0">
              <a:solidFill>
                <a:srgbClr val="000000"/>
              </a:solidFill>
              <a:latin typeface="Pretendard SemiBold"/>
              <a:ea typeface="Pretendard SemiBold"/>
            </a:endParaRP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000000"/>
                </a:solidFill>
                <a:latin typeface="Pretendard SemiBold"/>
                <a:ea typeface="Pretendard SemiBold"/>
              </a:rPr>
              <a:t>기존</a:t>
            </a:r>
            <a:r>
              <a:rPr lang="en-US" altLang="ko-KR" sz="2200" dirty="0">
                <a:solidFill>
                  <a:srgbClr val="000000"/>
                </a:solidFill>
                <a:latin typeface="Pretendard SemiBold"/>
                <a:ea typeface="Pretendard SemiBold"/>
              </a:rPr>
              <a:t> linear layer </a:t>
            </a:r>
            <a:r>
              <a:rPr lang="ko-KR" altLang="en-US" sz="2200" dirty="0">
                <a:solidFill>
                  <a:srgbClr val="000000"/>
                </a:solidFill>
                <a:latin typeface="Pretendard SemiBold"/>
                <a:ea typeface="Pretendard SemiBold"/>
              </a:rPr>
              <a:t>활용</a:t>
            </a:r>
            <a:endParaRPr lang="en-US" altLang="ko-KR" sz="2200" dirty="0">
              <a:solidFill>
                <a:srgbClr val="000000"/>
              </a:solidFill>
              <a:latin typeface="Pretendard SemiBold"/>
              <a:ea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96200" y="2095500"/>
            <a:ext cx="9334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000" dirty="0">
                <a:solidFill>
                  <a:srgbClr val="00074E"/>
                </a:solidFill>
                <a:ea typeface="Pretendard SemiBold"/>
              </a:rPr>
              <a:t>Q,K,V</a:t>
            </a:r>
            <a:endParaRPr lang="ko-KR" sz="30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3677900" y="241300"/>
            <a:ext cx="2590800" cy="129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696200" y="3924300"/>
            <a:ext cx="9334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000" b="0" i="0" u="none" strike="noStrike" dirty="0" err="1">
                <a:solidFill>
                  <a:srgbClr val="00074E"/>
                </a:solidFill>
                <a:ea typeface="Pretendard SemiBold"/>
              </a:rPr>
              <a:t>Softmax</a:t>
            </a:r>
            <a:r>
              <a:rPr lang="en-US" altLang="ko-KR" sz="3000" b="0" i="0" u="none" strike="noStrike" dirty="0">
                <a:solidFill>
                  <a:srgbClr val="00074E"/>
                </a:solidFill>
                <a:ea typeface="Pretendard SemiBold"/>
              </a:rPr>
              <a:t> Score</a:t>
            </a:r>
            <a:endParaRPr lang="ko-KR" sz="30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96200" y="4686300"/>
            <a:ext cx="80391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200" dirty="0" err="1">
                <a:solidFill>
                  <a:srgbClr val="000000"/>
                </a:solidFill>
                <a:ea typeface="Pretendard SemiBold"/>
              </a:rPr>
              <a:t>Max,Sum</a:t>
            </a:r>
            <a:r>
              <a:rPr lang="ko-KR" altLang="en-US" sz="2200" dirty="0" err="1">
                <a:solidFill>
                  <a:srgbClr val="000000"/>
                </a:solidFill>
                <a:ea typeface="Pretendard SemiBold"/>
              </a:rPr>
              <a:t>구할때</a:t>
            </a:r>
            <a:r>
              <a:rPr lang="ko-KR" altLang="en-US" sz="2200" dirty="0">
                <a:solidFill>
                  <a:srgbClr val="000000"/>
                </a:solidFill>
                <a:ea typeface="Pretendard SemiBold"/>
              </a:rPr>
              <a:t> 병렬 </a:t>
            </a:r>
            <a:r>
              <a:rPr lang="en-US" altLang="ko-KR" sz="2200" dirty="0">
                <a:solidFill>
                  <a:srgbClr val="000000"/>
                </a:solidFill>
                <a:ea typeface="Pretendard SemiBold"/>
              </a:rPr>
              <a:t>Reduction</a:t>
            </a:r>
            <a:r>
              <a:rPr lang="ko-KR" altLang="en-US" sz="2200" dirty="0">
                <a:solidFill>
                  <a:srgbClr val="000000"/>
                </a:solidFill>
                <a:ea typeface="Pretendard SemiBold"/>
              </a:rPr>
              <a:t>사용 </a:t>
            </a:r>
            <a:r>
              <a:rPr lang="en-US" altLang="ko-KR" sz="2200" dirty="0">
                <a:solidFill>
                  <a:srgbClr val="000000"/>
                </a:solidFill>
                <a:ea typeface="Pretendard SemiBold"/>
              </a:rPr>
              <a:t>-&gt; O(n)-&gt;O(</a:t>
            </a:r>
            <a:r>
              <a:rPr lang="en-US" altLang="ko-KR" sz="2200" dirty="0" err="1">
                <a:solidFill>
                  <a:srgbClr val="000000"/>
                </a:solidFill>
                <a:ea typeface="Pretendard SemiBold"/>
              </a:rPr>
              <a:t>logn</a:t>
            </a:r>
            <a:r>
              <a:rPr lang="en-US" altLang="ko-KR" sz="2200" dirty="0">
                <a:solidFill>
                  <a:srgbClr val="000000"/>
                </a:solidFill>
                <a:ea typeface="Pretendard SemiBold"/>
              </a:rPr>
              <a:t>)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200" dirty="0" err="1">
                <a:solidFill>
                  <a:srgbClr val="000000"/>
                </a:solidFill>
                <a:ea typeface="Pretendard SemiBold"/>
              </a:rPr>
              <a:t>Get_group_id</a:t>
            </a:r>
            <a:r>
              <a:rPr lang="en-US" altLang="ko-KR" sz="2200" dirty="0">
                <a:solidFill>
                  <a:srgbClr val="000000"/>
                </a:solidFill>
                <a:ea typeface="Pretendard SemiBold"/>
              </a:rPr>
              <a:t>(0)-&gt; </a:t>
            </a:r>
            <a:r>
              <a:rPr lang="ko-KR" altLang="en-US" sz="2200" dirty="0">
                <a:solidFill>
                  <a:srgbClr val="000000"/>
                </a:solidFill>
                <a:ea typeface="Pretendard SemiBold"/>
              </a:rPr>
              <a:t>각 행을 하나의 워크그룹 할당</a:t>
            </a:r>
            <a:endParaRPr lang="en-US" altLang="ko-KR" sz="2200" dirty="0">
              <a:solidFill>
                <a:srgbClr val="000000"/>
              </a:solidFill>
              <a:ea typeface="Pretendard SemiBold"/>
            </a:endParaRP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b="0" i="0" u="none" strike="noStrike" dirty="0">
                <a:solidFill>
                  <a:srgbClr val="000000"/>
                </a:solidFill>
                <a:ea typeface="Pretendard SemiBold"/>
              </a:rPr>
              <a:t>로컬 메모리 </a:t>
            </a:r>
            <a:r>
              <a:rPr lang="ko-KR" altLang="en-US" sz="2200" b="0" i="0" u="none" strike="noStrike" dirty="0" err="1">
                <a:solidFill>
                  <a:srgbClr val="000000"/>
                </a:solidFill>
                <a:ea typeface="Pretendard SemiBold"/>
              </a:rPr>
              <a:t>캐싱</a:t>
            </a:r>
            <a:r>
              <a:rPr lang="ko-KR" altLang="en-US" sz="2200" b="0" i="0" u="none" strike="noStrike" dirty="0">
                <a:solidFill>
                  <a:srgbClr val="000000"/>
                </a:solidFill>
                <a:ea typeface="Pretendard SemiBold"/>
              </a:rPr>
              <a:t> 사용 </a:t>
            </a:r>
            <a:r>
              <a:rPr lang="en-US" altLang="ko-KR" sz="2200" b="0" i="0" u="none" strike="noStrike" dirty="0">
                <a:solidFill>
                  <a:srgbClr val="000000"/>
                </a:solidFill>
                <a:ea typeface="Pretendard SemiBold"/>
              </a:rPr>
              <a:t>-&gt; global memory </a:t>
            </a:r>
            <a:r>
              <a:rPr lang="ko-KR" altLang="en-US" sz="2200" b="0" i="0" u="none" strike="noStrike" dirty="0">
                <a:solidFill>
                  <a:srgbClr val="000000"/>
                </a:solidFill>
                <a:ea typeface="Pretendard SemiBold"/>
              </a:rPr>
              <a:t>접근 회수 최소화</a:t>
            </a:r>
            <a:endParaRPr lang="ko-KR" sz="2200" b="0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696200" y="6477000"/>
            <a:ext cx="9334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000" b="0" i="0" u="none" strike="noStrike" dirty="0" err="1">
                <a:solidFill>
                  <a:srgbClr val="00074E"/>
                </a:solidFill>
                <a:ea typeface="Pretendard SemiBold"/>
              </a:rPr>
              <a:t>Cal_result</a:t>
            </a:r>
            <a:r>
              <a:rPr lang="en-US" altLang="ko-KR" sz="3000" b="0" i="0" u="none" strike="noStrike" dirty="0">
                <a:solidFill>
                  <a:srgbClr val="00074E"/>
                </a:solidFill>
                <a:ea typeface="Pretendard SemiBold"/>
              </a:rPr>
              <a:t>, </a:t>
            </a:r>
            <a:r>
              <a:rPr lang="en-US" altLang="ko-KR" sz="3000" b="0" i="0" u="none" strike="noStrike" dirty="0" err="1">
                <a:solidFill>
                  <a:srgbClr val="00074E"/>
                </a:solidFill>
                <a:ea typeface="Pretendard SemiBold"/>
              </a:rPr>
              <a:t>Cal_score</a:t>
            </a:r>
            <a:r>
              <a:rPr lang="en-US" altLang="ko-KR" sz="3000" b="0" i="0" u="none" strike="noStrike" dirty="0">
                <a:solidFill>
                  <a:srgbClr val="00074E"/>
                </a:solidFill>
                <a:ea typeface="Pretendard SemiBold"/>
              </a:rPr>
              <a:t> </a:t>
            </a:r>
            <a:r>
              <a:rPr lang="ko-KR" altLang="en-US" sz="3000" b="0" i="0" u="none" strike="noStrike" dirty="0">
                <a:solidFill>
                  <a:srgbClr val="00074E"/>
                </a:solidFill>
                <a:ea typeface="Pretendard SemiBold"/>
              </a:rPr>
              <a:t>등</a:t>
            </a:r>
            <a:endParaRPr lang="ko-KR" sz="30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96200" y="7175500"/>
            <a:ext cx="80391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</a:rPr>
              <a:t>기존 </a:t>
            </a:r>
            <a:r>
              <a:rPr lang="en-US" altLang="ko-KR" sz="22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</a:rPr>
              <a:t>2</a:t>
            </a:r>
            <a:r>
              <a:rPr lang="ko-KR" altLang="en-US" sz="22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</a:rPr>
              <a:t>중 </a:t>
            </a:r>
            <a:r>
              <a:rPr lang="en-US" altLang="ko-KR" sz="22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</a:rPr>
              <a:t>for</a:t>
            </a:r>
            <a:r>
              <a:rPr lang="ko-KR" altLang="en-US" sz="22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</a:rPr>
              <a:t>문을 </a:t>
            </a:r>
            <a:r>
              <a:rPr lang="en-US" altLang="ko-KR" sz="22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</a:rPr>
              <a:t>unloop</a:t>
            </a:r>
          </a:p>
          <a:p>
            <a:pPr marL="342900" lvl="0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000000"/>
                </a:solidFill>
                <a:latin typeface="Pretendard SemiBold"/>
                <a:ea typeface="Pretendard SemiBold"/>
              </a:rPr>
              <a:t>커널 내부 반복문에 </a:t>
            </a:r>
            <a:r>
              <a:rPr lang="en-US" sz="2200" dirty="0">
                <a:solidFill>
                  <a:srgbClr val="000000"/>
                </a:solidFill>
                <a:latin typeface="Pretendard SemiBold"/>
                <a:ea typeface="Pretendard SemiBold"/>
              </a:rPr>
              <a:t>unroll</a:t>
            </a:r>
            <a:r>
              <a:rPr lang="ko-KR" altLang="en-US" sz="2200" dirty="0">
                <a:solidFill>
                  <a:srgbClr val="000000"/>
                </a:solidFill>
                <a:latin typeface="Pretendard SemiBold"/>
                <a:ea typeface="Pretendard SemiBold"/>
              </a:rPr>
              <a:t>적용</a:t>
            </a:r>
            <a:endParaRPr lang="en-US" sz="2200" b="0" i="0" u="none" strike="noStrike" dirty="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185900" y="444500"/>
            <a:ext cx="18034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FFFFFF"/>
                </a:solidFill>
                <a:latin typeface="Pretendard Regular"/>
              </a:rPr>
              <a:t>chapter.02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20E0703-3020-E766-2A14-135C92AB0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2077954"/>
            <a:ext cx="6108700" cy="65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419100"/>
            <a:ext cx="2832100" cy="1498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95400" y="723900"/>
            <a:ext cx="2476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500" b="0" i="0" u="none" strike="noStrike" spc="200" dirty="0">
                <a:solidFill>
                  <a:srgbClr val="FFFFFF"/>
                </a:solidFill>
                <a:latin typeface="Pretendard Medium"/>
              </a:rPr>
              <a:t>Chapter.03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8800" y="936124"/>
            <a:ext cx="94742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6000" dirty="0">
                <a:solidFill>
                  <a:srgbClr val="00074E"/>
                </a:solidFill>
                <a:ea typeface="Pretendard SemiBold"/>
              </a:rPr>
              <a:t>전체적인 성능 변화</a:t>
            </a:r>
            <a:endParaRPr lang="ko-KR" altLang="ko-KR" sz="6000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CBC402-0318-EE2E-B95D-66A582517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262058"/>
            <a:ext cx="13868400" cy="684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419100"/>
            <a:ext cx="2832100" cy="1498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95400" y="723900"/>
            <a:ext cx="2476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500" b="0" i="0" u="none" strike="noStrike" spc="200" dirty="0">
                <a:solidFill>
                  <a:srgbClr val="FFFFFF"/>
                </a:solidFill>
                <a:latin typeface="Pretendard Medium"/>
              </a:rPr>
              <a:t>Chapter.03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999DB3F2-B868-E1EF-E3C1-ACDA5FCD88B3}"/>
              </a:ext>
            </a:extLst>
          </p:cNvPr>
          <p:cNvSpPr txBox="1"/>
          <p:nvPr/>
        </p:nvSpPr>
        <p:spPr>
          <a:xfrm>
            <a:off x="10007600" y="1891632"/>
            <a:ext cx="6985000" cy="675706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endParaRPr lang="en-US" altLang="ko-KR" sz="3600" b="1" dirty="0">
              <a:solidFill>
                <a:srgbClr val="00074E"/>
              </a:solidFill>
              <a:ea typeface="Pretendard SemiBold"/>
            </a:endParaRPr>
          </a:p>
          <a:p>
            <a:pPr algn="ctr">
              <a:lnSpc>
                <a:spcPct val="99600"/>
              </a:lnSpc>
            </a:pPr>
            <a:r>
              <a:rPr lang="en-US" altLang="ko-KR" sz="3600" b="1" dirty="0" err="1">
                <a:solidFill>
                  <a:srgbClr val="00074E"/>
                </a:solidFill>
                <a:ea typeface="Pretendard SemiBold"/>
              </a:rPr>
              <a:t>linear_layer</a:t>
            </a: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 </a:t>
            </a:r>
            <a:r>
              <a:rPr lang="ko-KR" altLang="ko-KR" sz="3600" b="1" dirty="0">
                <a:solidFill>
                  <a:srgbClr val="00074E"/>
                </a:solidFill>
                <a:ea typeface="Pretendard SemiBold"/>
              </a:rPr>
              <a:t>구조</a:t>
            </a: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 (60%)</a:t>
            </a:r>
          </a:p>
          <a:p>
            <a:pPr algn="ctr">
              <a:lnSpc>
                <a:spcPct val="99600"/>
              </a:lnSpc>
            </a:pPr>
            <a:r>
              <a:rPr lang="en-US" altLang="ko-KR" sz="3600" b="1" dirty="0" err="1">
                <a:solidFill>
                  <a:srgbClr val="00074E"/>
                </a:solidFill>
                <a:ea typeface="Pretendard SemiBold"/>
              </a:rPr>
              <a:t>Multihead_attn</a:t>
            </a: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 (69.36%)</a:t>
            </a:r>
          </a:p>
          <a:p>
            <a:pPr lvl="0" algn="ctr">
              <a:lnSpc>
                <a:spcPct val="99600"/>
              </a:lnSpc>
            </a:pP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Conv2d, </a:t>
            </a:r>
            <a:r>
              <a:rPr lang="en-US" altLang="ko-KR" sz="3600" b="1" dirty="0" err="1">
                <a:solidFill>
                  <a:srgbClr val="00074E"/>
                </a:solidFill>
                <a:ea typeface="Pretendard SemiBold"/>
              </a:rPr>
              <a:t>flatten_transpose</a:t>
            </a: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 (49.29%)</a:t>
            </a:r>
            <a:endParaRPr lang="en-US" altLang="ko-KR" sz="3600" b="1" i="0" u="none" strike="noStrike" dirty="0">
              <a:solidFill>
                <a:srgbClr val="00074E"/>
              </a:solidFill>
              <a:ea typeface="Pretendard SemiBold"/>
            </a:endParaRPr>
          </a:p>
          <a:p>
            <a:pPr algn="ctr">
              <a:lnSpc>
                <a:spcPct val="99600"/>
              </a:lnSpc>
            </a:pPr>
            <a:r>
              <a:rPr lang="ko-KR" altLang="en-US" sz="3600" b="1" dirty="0">
                <a:solidFill>
                  <a:srgbClr val="00074E"/>
                </a:solidFill>
                <a:ea typeface="Pretendard SemiBold"/>
              </a:rPr>
              <a:t>최종단계</a:t>
            </a: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 (61.27%)</a:t>
            </a:r>
          </a:p>
          <a:p>
            <a:pPr algn="ctr">
              <a:lnSpc>
                <a:spcPct val="99600"/>
              </a:lnSpc>
            </a:pP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=&gt; </a:t>
            </a:r>
            <a:r>
              <a:rPr lang="ko-KR" altLang="en-US" sz="3600" b="1" dirty="0">
                <a:solidFill>
                  <a:srgbClr val="00074E"/>
                </a:solidFill>
                <a:ea typeface="Pretendard SemiBold"/>
              </a:rPr>
              <a:t>총 </a:t>
            </a:r>
            <a:r>
              <a:rPr lang="en-US" altLang="ko-KR" sz="3600" b="1" dirty="0">
                <a:solidFill>
                  <a:srgbClr val="00074E"/>
                </a:solidFill>
                <a:ea typeface="Pretendard SemiBold"/>
              </a:rPr>
              <a:t>99.08%</a:t>
            </a:r>
            <a:endParaRPr lang="ko-KR" altLang="ko-KR" sz="3600" b="1" dirty="0">
              <a:solidFill>
                <a:srgbClr val="00074E"/>
              </a:solidFill>
              <a:ea typeface="Pretendard SemiBold"/>
            </a:endParaRPr>
          </a:p>
          <a:p>
            <a:pPr algn="ctr">
              <a:lnSpc>
                <a:spcPct val="99600"/>
              </a:lnSpc>
            </a:pPr>
            <a:endParaRPr lang="ko-KR" altLang="ko-KR" sz="3600" b="1" dirty="0">
              <a:solidFill>
                <a:srgbClr val="00074E"/>
              </a:solidFill>
              <a:ea typeface="Pretendard SemiBold"/>
            </a:endParaRPr>
          </a:p>
          <a:p>
            <a:pPr lvl="0" algn="ctr">
              <a:lnSpc>
                <a:spcPct val="99600"/>
              </a:lnSpc>
            </a:pPr>
            <a:endParaRPr lang="ko-KR" sz="3600" b="1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F8E5D-D0CF-5F03-3E60-CFE492D63D23}"/>
              </a:ext>
            </a:extLst>
          </p:cNvPr>
          <p:cNvSpPr txBox="1"/>
          <p:nvPr/>
        </p:nvSpPr>
        <p:spPr>
          <a:xfrm>
            <a:off x="9906000" y="3949700"/>
            <a:ext cx="64516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endParaRPr lang="ko-KR" sz="36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3076900-681A-E6EF-47B3-978B95B0A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437" y="2120232"/>
            <a:ext cx="8458200" cy="675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7900" y="165100"/>
            <a:ext cx="3505200" cy="1752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334000" y="1066800"/>
            <a:ext cx="41529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6000" dirty="0">
                <a:solidFill>
                  <a:srgbClr val="00074E"/>
                </a:solidFill>
                <a:ea typeface="Pretendard SemiBold"/>
              </a:rPr>
              <a:t>시행 착오</a:t>
            </a:r>
            <a:endParaRPr lang="ko-KR" altLang="ko-KR" sz="6000" dirty="0">
              <a:solidFill>
                <a:srgbClr val="00074E"/>
              </a:solidFill>
              <a:ea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05000" y="584200"/>
            <a:ext cx="16256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FFFFFF"/>
                </a:solidFill>
                <a:latin typeface="Pretendard Regular"/>
              </a:rPr>
              <a:t>chapter.04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0862AA-2C0E-0324-E899-15BD350CDD76}"/>
              </a:ext>
            </a:extLst>
          </p:cNvPr>
          <p:cNvSpPr txBox="1"/>
          <p:nvPr/>
        </p:nvSpPr>
        <p:spPr>
          <a:xfrm>
            <a:off x="9427411" y="2504490"/>
            <a:ext cx="7031789" cy="393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3000" b="1" i="0" u="none" strike="noStrike" dirty="0">
                <a:solidFill>
                  <a:srgbClr val="2C2C2C"/>
                </a:solidFill>
                <a:ea typeface="Pretendard SemiBold"/>
              </a:rPr>
              <a:t>conv2d</a:t>
            </a:r>
            <a:endParaRPr lang="ko-KR" altLang="ko-KR" sz="3000" b="1" i="0" u="none" strike="noStrike" dirty="0">
              <a:solidFill>
                <a:srgbClr val="2C2C2C"/>
              </a:solidFill>
              <a:ea typeface="Pretendard SemiBold"/>
            </a:endParaRPr>
          </a:p>
          <a:p>
            <a:pPr marL="723900" lvl="1" indent="-342900" algn="l">
              <a:lnSpc>
                <a:spcPct val="141100"/>
              </a:lnSpc>
              <a:buClr>
                <a:srgbClr val="2C2C2C"/>
              </a:buClr>
              <a:buFont typeface="Arial"/>
              <a:buChar char="○"/>
            </a:pPr>
            <a:r>
              <a:rPr lang="en-US" altLang="ko-KR" sz="3000" b="0" i="0" u="none" strike="noStrike" dirty="0">
                <a:solidFill>
                  <a:srgbClr val="2C2C2C"/>
                </a:solidFill>
                <a:ea typeface="Pretendard SemiBold"/>
              </a:rPr>
              <a:t>3</a:t>
            </a:r>
            <a:r>
              <a:rPr lang="ko-KR" altLang="en-US" sz="3000" b="0" i="0" u="none" strike="noStrike" dirty="0">
                <a:solidFill>
                  <a:srgbClr val="2C2C2C"/>
                </a:solidFill>
                <a:ea typeface="Pretendard SemiBold"/>
              </a:rPr>
              <a:t>중 </a:t>
            </a:r>
            <a:r>
              <a:rPr lang="en-US" altLang="ko-KR" sz="3000" b="0" i="0" u="none" strike="noStrike" dirty="0">
                <a:solidFill>
                  <a:srgbClr val="2C2C2C"/>
                </a:solidFill>
                <a:ea typeface="Pretendard SemiBold"/>
              </a:rPr>
              <a:t>for</a:t>
            </a:r>
            <a:r>
              <a:rPr lang="ko-KR" altLang="en-US" sz="3000" b="0" i="0" u="none" strike="noStrike" dirty="0">
                <a:solidFill>
                  <a:srgbClr val="2C2C2C"/>
                </a:solidFill>
                <a:ea typeface="Pretendard SemiBold"/>
              </a:rPr>
              <a:t>문을 </a:t>
            </a:r>
            <a:r>
              <a:rPr lang="en-US" altLang="ko-KR" sz="3000" b="0" i="0" u="none" strike="noStrike" dirty="0">
                <a:solidFill>
                  <a:srgbClr val="2C2C2C"/>
                </a:solidFill>
                <a:ea typeface="Pretendard SemiBold"/>
              </a:rPr>
              <a:t>full unrolling</a:t>
            </a:r>
            <a:r>
              <a:rPr lang="ko-KR" altLang="en-US" sz="3000" b="0" i="0" u="none" strike="noStrike" dirty="0">
                <a:solidFill>
                  <a:srgbClr val="2C2C2C"/>
                </a:solidFill>
                <a:ea typeface="Pretendard SemiBold"/>
              </a:rPr>
              <a:t>하려함</a:t>
            </a:r>
            <a:endParaRPr lang="en-US" altLang="ko-KR" sz="3000" b="0" i="0" u="none" strike="noStrike" dirty="0">
              <a:solidFill>
                <a:srgbClr val="2C2C2C"/>
              </a:solidFill>
              <a:ea typeface="Pretendard SemiBold"/>
            </a:endParaRPr>
          </a:p>
          <a:p>
            <a:pPr marL="723900" lvl="1" indent="-342900" algn="l">
              <a:lnSpc>
                <a:spcPct val="141100"/>
              </a:lnSpc>
              <a:buClr>
                <a:srgbClr val="2C2C2C"/>
              </a:buClr>
              <a:buFont typeface="Arial"/>
              <a:buChar char="○"/>
            </a:pPr>
            <a:r>
              <a:rPr lang="en-US" altLang="ko-KR" sz="3000" dirty="0">
                <a:solidFill>
                  <a:srgbClr val="2C2C2C"/>
                </a:solidFill>
                <a:ea typeface="Pretendard SemiBold"/>
              </a:rPr>
              <a:t>But, </a:t>
            </a:r>
            <a:r>
              <a:rPr lang="ko-KR" altLang="en-US" sz="3000" dirty="0">
                <a:solidFill>
                  <a:srgbClr val="2C2C2C"/>
                </a:solidFill>
                <a:ea typeface="Pretendard SemiBold"/>
              </a:rPr>
              <a:t>오히려 속도가 느려짐</a:t>
            </a:r>
            <a:endParaRPr lang="en-US" altLang="ko-KR" sz="3000" dirty="0">
              <a:solidFill>
                <a:srgbClr val="2C2C2C"/>
              </a:solidFill>
              <a:ea typeface="Pretendard SemiBold"/>
            </a:endParaRPr>
          </a:p>
          <a:p>
            <a:pPr marL="723900" lvl="1" indent="-342900" algn="l">
              <a:lnSpc>
                <a:spcPct val="141100"/>
              </a:lnSpc>
              <a:buClr>
                <a:srgbClr val="2C2C2C"/>
              </a:buClr>
              <a:buFont typeface="Arial"/>
              <a:buChar char="○"/>
            </a:pPr>
            <a:r>
              <a:rPr lang="ko-KR" altLang="en-US" sz="3000" dirty="0">
                <a:solidFill>
                  <a:srgbClr val="2C2C2C"/>
                </a:solidFill>
                <a:ea typeface="Pretendard SemiBold"/>
              </a:rPr>
              <a:t>코드의 양이 </a:t>
            </a:r>
            <a:r>
              <a:rPr lang="ko-KR" altLang="en-US" sz="3000" dirty="0" err="1">
                <a:solidFill>
                  <a:srgbClr val="2C2C2C"/>
                </a:solidFill>
                <a:ea typeface="Pretendard SemiBold"/>
              </a:rPr>
              <a:t>방대해져</a:t>
            </a:r>
            <a:r>
              <a:rPr lang="ko-KR" altLang="en-US" sz="3000" dirty="0">
                <a:solidFill>
                  <a:srgbClr val="2C2C2C"/>
                </a:solidFill>
                <a:ea typeface="Pretendard SemiBold"/>
              </a:rPr>
              <a:t> 오히려 레지스터의 부족</a:t>
            </a:r>
            <a:endParaRPr lang="en-US" altLang="ko-KR" sz="3000" dirty="0">
              <a:solidFill>
                <a:srgbClr val="2C2C2C"/>
              </a:solidFill>
              <a:ea typeface="Pretendard SemiBold"/>
            </a:endParaRPr>
          </a:p>
          <a:p>
            <a:pPr marL="381000" lvl="1" algn="l">
              <a:lnSpc>
                <a:spcPct val="141100"/>
              </a:lnSpc>
              <a:buClr>
                <a:srgbClr val="2C2C2C"/>
              </a:buClr>
            </a:pPr>
            <a:r>
              <a:rPr lang="en-US" altLang="ko-KR" sz="3000" b="0" i="0" u="none" strike="noStrike" dirty="0">
                <a:solidFill>
                  <a:srgbClr val="2C2C2C"/>
                </a:solidFill>
                <a:ea typeface="Pretendard SemiBold"/>
              </a:rPr>
              <a:t>-&gt; </a:t>
            </a:r>
            <a:r>
              <a:rPr lang="ko-KR" altLang="en-US" sz="3000" b="0" i="0" u="none" strike="noStrike" dirty="0">
                <a:solidFill>
                  <a:srgbClr val="2C2C2C"/>
                </a:solidFill>
                <a:ea typeface="Pretendard SemiBold"/>
              </a:rPr>
              <a:t>루프 구조는 살리되</a:t>
            </a:r>
            <a:r>
              <a:rPr lang="en-US" altLang="ko-KR" sz="3000" b="0" i="0" u="none" strike="noStrike" dirty="0">
                <a:solidFill>
                  <a:srgbClr val="2C2C2C"/>
                </a:solidFill>
                <a:ea typeface="Pretendard SemiBold"/>
              </a:rPr>
              <a:t>, float4</a:t>
            </a:r>
            <a:r>
              <a:rPr lang="ko-KR" altLang="en-US" sz="3000" b="0" i="0" u="none" strike="noStrike" dirty="0">
                <a:solidFill>
                  <a:srgbClr val="2C2C2C"/>
                </a:solidFill>
                <a:ea typeface="Pretendard SemiBold"/>
              </a:rPr>
              <a:t>구조 유지</a:t>
            </a:r>
            <a:endParaRPr lang="en-US" altLang="ko-KR" sz="3000" b="0" i="0" u="none" strike="noStrike" dirty="0">
              <a:solidFill>
                <a:srgbClr val="2C2C2C"/>
              </a:solidFill>
              <a:ea typeface="Pretendard SemiBold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073A58B-4F77-D17E-8245-D207B972B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2413000"/>
            <a:ext cx="7366000" cy="686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419100"/>
            <a:ext cx="2832100" cy="1498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95400" y="723900"/>
            <a:ext cx="2476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500" b="0" i="0" u="none" strike="noStrike" spc="200" dirty="0">
                <a:solidFill>
                  <a:srgbClr val="FFFFFF"/>
                </a:solidFill>
                <a:latin typeface="Pretendard Medium"/>
              </a:rPr>
              <a:t>Chapter.05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68800" y="1409700"/>
            <a:ext cx="94742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6000" dirty="0">
                <a:solidFill>
                  <a:srgbClr val="00074E"/>
                </a:solidFill>
                <a:ea typeface="Pretendard SemiBold"/>
              </a:rPr>
              <a:t>역할 배분 및 기여도</a:t>
            </a:r>
            <a:endParaRPr lang="ko-KR" altLang="ko-KR" sz="6000" dirty="0">
              <a:solidFill>
                <a:srgbClr val="00074E"/>
              </a:solidFill>
              <a:ea typeface="Pretendard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4CCD4-D01A-8EF5-9468-A28C89196DC8}"/>
              </a:ext>
            </a:extLst>
          </p:cNvPr>
          <p:cNvSpPr txBox="1"/>
          <p:nvPr/>
        </p:nvSpPr>
        <p:spPr>
          <a:xfrm>
            <a:off x="1447800" y="3238500"/>
            <a:ext cx="7543800" cy="550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1100"/>
              </a:lnSpc>
              <a:buClr>
                <a:srgbClr val="2C2C2C"/>
              </a:buClr>
            </a:pP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김남균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코드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dirty="0" err="1">
                <a:solidFill>
                  <a:srgbClr val="2C2C2C"/>
                </a:solidFill>
                <a:ea typeface="Pretendard SemiBold"/>
              </a:rPr>
              <a:t>Softmax</a:t>
            </a: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파트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dirty="0">
                <a:solidFill>
                  <a:srgbClr val="2C2C2C"/>
                </a:solidFill>
                <a:ea typeface="Pretendard SemiBold"/>
              </a:rPr>
              <a:t>Conv2d</a:t>
            </a: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파트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dirty="0" err="1">
                <a:solidFill>
                  <a:srgbClr val="2C2C2C"/>
                </a:solidFill>
                <a:ea typeface="Pretendard SemiBold"/>
              </a:rPr>
              <a:t>Multihead_attn</a:t>
            </a:r>
            <a:r>
              <a:rPr lang="en-US" altLang="ko-KR" sz="2800" dirty="0">
                <a:solidFill>
                  <a:srgbClr val="2C2C2C"/>
                </a:solidFill>
                <a:ea typeface="Pretendard SemiBold"/>
              </a:rPr>
              <a:t> </a:t>
            </a: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파트 일부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dirty="0" err="1">
                <a:solidFill>
                  <a:srgbClr val="2C2C2C"/>
                </a:solidFill>
                <a:ea typeface="Pretendard SemiBold"/>
              </a:rPr>
              <a:t>설계및</a:t>
            </a: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 분석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초기 코드 분석 및 역할 배분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적용할 병렬화 기법 제안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중간</a:t>
            </a:r>
            <a:r>
              <a:rPr lang="en-US" altLang="ko-KR" sz="2800" dirty="0">
                <a:solidFill>
                  <a:srgbClr val="2C2C2C"/>
                </a:solidFill>
                <a:ea typeface="Pretendard SemiBold"/>
              </a:rPr>
              <a:t>/</a:t>
            </a: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최종 발표자료 제작</a:t>
            </a:r>
            <a:r>
              <a:rPr lang="en-US" altLang="ko-KR" sz="2800" dirty="0">
                <a:solidFill>
                  <a:srgbClr val="2C2C2C"/>
                </a:solidFill>
                <a:ea typeface="Pretendard SemiBold"/>
              </a:rPr>
              <a:t>, </a:t>
            </a:r>
            <a:r>
              <a:rPr lang="ko-KR" altLang="en-US" sz="2800" dirty="0">
                <a:solidFill>
                  <a:srgbClr val="2C2C2C"/>
                </a:solidFill>
                <a:ea typeface="Pretendard SemiBold"/>
              </a:rPr>
              <a:t>최종 보고서 작성</a:t>
            </a:r>
            <a:endParaRPr lang="en-US" altLang="ko-KR" sz="2800" dirty="0">
              <a:solidFill>
                <a:srgbClr val="2C2C2C"/>
              </a:solidFill>
              <a:ea typeface="Pretendard Semi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12AEA8-1E2F-B6C4-0A63-2F304840F8C1}"/>
              </a:ext>
            </a:extLst>
          </p:cNvPr>
          <p:cNvSpPr txBox="1"/>
          <p:nvPr/>
        </p:nvSpPr>
        <p:spPr>
          <a:xfrm>
            <a:off x="9448800" y="3009900"/>
            <a:ext cx="7162800" cy="610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1100"/>
              </a:lnSpc>
              <a:buClr>
                <a:srgbClr val="2C2C2C"/>
              </a:buClr>
            </a:pPr>
            <a:r>
              <a:rPr lang="ko-KR" altLang="en-US" sz="2800" b="1">
                <a:solidFill>
                  <a:srgbClr val="2C2C2C"/>
                </a:solidFill>
                <a:ea typeface="Pretendard SemiBold"/>
              </a:rPr>
              <a:t>김도현</a:t>
            </a:r>
            <a:endParaRPr lang="en-US" altLang="ko-KR" sz="2800" b="1" dirty="0">
              <a:solidFill>
                <a:srgbClr val="2C2C2C"/>
              </a:solidFill>
              <a:ea typeface="Pretendard SemiBold"/>
            </a:endParaRPr>
          </a:p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b="1" dirty="0">
                <a:solidFill>
                  <a:srgbClr val="2C2C2C"/>
                </a:solidFill>
                <a:ea typeface="Pretendard SemiBold"/>
              </a:rPr>
              <a:t>코드</a:t>
            </a:r>
            <a:endParaRPr lang="en-US" altLang="ko-KR" sz="2800" b="1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b="1" dirty="0"/>
              <a:t>OpenCL </a:t>
            </a:r>
            <a:r>
              <a:rPr lang="ko-KR" altLang="en-US" sz="2800" b="1" dirty="0"/>
              <a:t>런타임 </a:t>
            </a:r>
            <a:r>
              <a:rPr lang="en-US" altLang="ko-KR" sz="2800" b="1" dirty="0" err="1"/>
              <a:t>init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및 </a:t>
            </a:r>
            <a:r>
              <a:rPr lang="en-US" altLang="ko-KR" sz="2800" b="1" dirty="0"/>
              <a:t>clean-up </a:t>
            </a: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b="1" dirty="0"/>
              <a:t>Out-of-order </a:t>
            </a:r>
            <a:r>
              <a:rPr lang="ko-KR" altLang="en-US" sz="2800" b="1" dirty="0"/>
              <a:t>큐 사용 </a:t>
            </a:r>
            <a:r>
              <a:rPr lang="en-US" altLang="ko-KR" sz="2800" b="1" dirty="0"/>
              <a:t>,event </a:t>
            </a:r>
            <a:r>
              <a:rPr lang="ko-KR" altLang="en-US" sz="2800" b="1" dirty="0"/>
              <a:t>동기화 작업 </a:t>
            </a: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b="1" dirty="0" err="1">
                <a:solidFill>
                  <a:srgbClr val="2C2C2C"/>
                </a:solidFill>
                <a:ea typeface="Pretendard SemiBold"/>
              </a:rPr>
              <a:t>Mutlihead_attn</a:t>
            </a:r>
            <a:endParaRPr lang="en-US" altLang="ko-KR" sz="2800" b="1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b="1" dirty="0">
                <a:solidFill>
                  <a:srgbClr val="2C2C2C"/>
                </a:solidFill>
                <a:ea typeface="Pretendard SemiBold"/>
              </a:rPr>
              <a:t>Linear Layer</a:t>
            </a: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en-US" altLang="ko-KR" sz="2800" b="1" dirty="0">
                <a:solidFill>
                  <a:srgbClr val="2C2C2C"/>
                </a:solidFill>
                <a:ea typeface="Pretendard SemiBold"/>
              </a:rPr>
              <a:t>Layer Normalization</a:t>
            </a:r>
          </a:p>
          <a:p>
            <a:pPr marL="342900" lvl="0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b="1" dirty="0" err="1">
                <a:solidFill>
                  <a:srgbClr val="2C2C2C"/>
                </a:solidFill>
                <a:ea typeface="Pretendard SemiBold"/>
              </a:rPr>
              <a:t>설계및</a:t>
            </a:r>
            <a:r>
              <a:rPr lang="ko-KR" altLang="en-US" sz="2800" b="1" dirty="0">
                <a:solidFill>
                  <a:srgbClr val="2C2C2C"/>
                </a:solidFill>
                <a:ea typeface="Pretendard SemiBold"/>
              </a:rPr>
              <a:t> 분석</a:t>
            </a:r>
            <a:endParaRPr lang="en-US" altLang="ko-KR" sz="2800" b="1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b="1" dirty="0">
                <a:solidFill>
                  <a:srgbClr val="2C2C2C"/>
                </a:solidFill>
                <a:ea typeface="Pretendard SemiBold"/>
              </a:rPr>
              <a:t>디렉토리 구조</a:t>
            </a:r>
            <a:r>
              <a:rPr lang="en-US" altLang="ko-KR" sz="2800" b="1" dirty="0">
                <a:solidFill>
                  <a:srgbClr val="2C2C2C"/>
                </a:solidFill>
                <a:ea typeface="Pretendard SemiBold"/>
              </a:rPr>
              <a:t>, </a:t>
            </a:r>
            <a:r>
              <a:rPr lang="ko-KR" altLang="en-US" sz="2800" b="1" dirty="0">
                <a:solidFill>
                  <a:srgbClr val="2C2C2C"/>
                </a:solidFill>
                <a:ea typeface="Pretendard SemiBold"/>
              </a:rPr>
              <a:t>코딩 컨벤션 등 프로젝트 구성</a:t>
            </a:r>
            <a:endParaRPr lang="en-US" altLang="ko-KR" sz="2800" b="1" dirty="0">
              <a:solidFill>
                <a:srgbClr val="2C2C2C"/>
              </a:solidFill>
              <a:ea typeface="Pretendard SemiBold"/>
            </a:endParaRPr>
          </a:p>
          <a:p>
            <a:pPr marL="800100" lvl="1" indent="-342900">
              <a:lnSpc>
                <a:spcPct val="141100"/>
              </a:lnSpc>
              <a:buClr>
                <a:srgbClr val="2C2C2C"/>
              </a:buClr>
              <a:buFont typeface="Arial"/>
              <a:buChar char="●"/>
            </a:pPr>
            <a:r>
              <a:rPr lang="ko-KR" altLang="en-US" sz="2800" b="1" dirty="0">
                <a:solidFill>
                  <a:srgbClr val="2C2C2C"/>
                </a:solidFill>
                <a:ea typeface="Pretendard SemiBold"/>
              </a:rPr>
              <a:t>성능 지표 측정</a:t>
            </a:r>
            <a:endParaRPr lang="en-US" altLang="ko-KR" sz="2800" b="1" dirty="0">
              <a:solidFill>
                <a:srgbClr val="2C2C2C"/>
              </a:solidFill>
              <a:ea typeface="Pretendar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003300"/>
            <a:ext cx="88900" cy="48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2057400"/>
            <a:ext cx="6781800" cy="1016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870700" y="2159000"/>
            <a:ext cx="37084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900" b="0" i="0" u="none" strike="noStrike" dirty="0" err="1">
                <a:solidFill>
                  <a:srgbClr val="FFFFFF"/>
                </a:solidFill>
                <a:ea typeface="Pretendard SemiBold"/>
              </a:rPr>
              <a:t>느낀</a:t>
            </a:r>
            <a:r>
              <a:rPr lang="ko-KR" sz="4900" b="0" i="0" u="none" strike="noStrike" dirty="0" err="1">
                <a:solidFill>
                  <a:srgbClr val="FFFFFF"/>
                </a:solidFill>
                <a:ea typeface="Pretendard SemiBold"/>
              </a:rPr>
              <a:t>점</a:t>
            </a:r>
            <a:endParaRPr lang="ko-KR" sz="49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0916" y="3803650"/>
            <a:ext cx="16256000" cy="39243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4100" b="0" i="0" u="none" strike="noStrike" dirty="0">
                <a:solidFill>
                  <a:srgbClr val="000000"/>
                </a:solidFill>
                <a:ea typeface="Pretendard SemiBold"/>
              </a:rPr>
              <a:t>GPU</a:t>
            </a:r>
            <a:r>
              <a:rPr lang="ko-KR" altLang="en-US" sz="4100" b="0" i="0" u="none" strike="noStrike" dirty="0">
                <a:solidFill>
                  <a:srgbClr val="000000"/>
                </a:solidFill>
                <a:ea typeface="Pretendard SemiBold"/>
              </a:rPr>
              <a:t>를 통해 커널에서 사용하기만 해도 굉장한 속도 향상</a:t>
            </a:r>
            <a:endParaRPr lang="en-US" altLang="ko-KR" sz="4100" b="0" i="0" u="none" strike="noStrike" dirty="0">
              <a:solidFill>
                <a:srgbClr val="000000"/>
              </a:solidFill>
              <a:ea typeface="Pretendard SemiBold"/>
            </a:endParaRP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4100" dirty="0">
                <a:solidFill>
                  <a:srgbClr val="000000"/>
                </a:solidFill>
                <a:ea typeface="Pretendard SemiBold"/>
              </a:rPr>
              <a:t>혼자서 코드를 구현하는 것과 팀 단위로 코드를 짜 프로젝트를 만드는데 차이</a:t>
            </a:r>
            <a:endParaRPr lang="ko-KR" sz="4100" b="0" i="0" u="none" strike="noStrike" dirty="0">
              <a:solidFill>
                <a:srgbClr val="000000"/>
              </a:solidFill>
              <a:ea typeface="Pretendard SemiBold"/>
            </a:endParaRP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4100" dirty="0">
                <a:solidFill>
                  <a:srgbClr val="000000"/>
                </a:solidFill>
                <a:ea typeface="Pretendard SemiBold"/>
              </a:rPr>
              <a:t>머리에서 생각한 </a:t>
            </a:r>
            <a:r>
              <a:rPr lang="en-US" altLang="ko-KR" sz="4100" dirty="0">
                <a:solidFill>
                  <a:srgbClr val="000000"/>
                </a:solidFill>
                <a:ea typeface="Pretendard SemiBold"/>
              </a:rPr>
              <a:t>(</a:t>
            </a:r>
            <a:r>
              <a:rPr lang="ko-KR" altLang="en-US" sz="4100" dirty="0">
                <a:solidFill>
                  <a:srgbClr val="000000"/>
                </a:solidFill>
                <a:ea typeface="Pretendard SemiBold"/>
              </a:rPr>
              <a:t>이론상</a:t>
            </a:r>
            <a:r>
              <a:rPr lang="en-US" altLang="ko-KR" sz="4100" dirty="0">
                <a:solidFill>
                  <a:srgbClr val="000000"/>
                </a:solidFill>
                <a:ea typeface="Pretendard SemiBold"/>
              </a:rPr>
              <a:t>) </a:t>
            </a:r>
            <a:r>
              <a:rPr lang="ko-KR" altLang="en-US" sz="4100" dirty="0">
                <a:solidFill>
                  <a:srgbClr val="000000"/>
                </a:solidFill>
                <a:ea typeface="Pretendard SemiBold"/>
              </a:rPr>
              <a:t>병렬화 기법을 적용해도 속도가 그다지 빨라지지 않음</a:t>
            </a:r>
            <a:endParaRPr lang="ko-KR" sz="4100" b="0" i="0" u="none" strike="noStrike" dirty="0">
              <a:solidFill>
                <a:srgbClr val="000000"/>
              </a:solidFill>
              <a:ea typeface="Pretendard SemiBold"/>
            </a:endParaRPr>
          </a:p>
          <a:p>
            <a:pPr marL="8636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4100" dirty="0">
                <a:solidFill>
                  <a:srgbClr val="000000"/>
                </a:solidFill>
                <a:ea typeface="Pretendard SemiBold"/>
              </a:rPr>
              <a:t>이론과 실전의 차이를 실감</a:t>
            </a:r>
            <a:endParaRPr lang="en-US" altLang="ko-KR" sz="4100" dirty="0">
              <a:solidFill>
                <a:srgbClr val="000000"/>
              </a:solidFill>
              <a:ea typeface="Pretendard SemiBold"/>
            </a:endParaRPr>
          </a:p>
          <a:p>
            <a:pPr marL="8636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4100" dirty="0">
                <a:solidFill>
                  <a:srgbClr val="000000"/>
                </a:solidFill>
                <a:ea typeface="Pretendard SemiBold"/>
              </a:rPr>
              <a:t>생각보다 구현 과정이 </a:t>
            </a:r>
            <a:r>
              <a:rPr lang="ko-KR" altLang="en-US" sz="4100" dirty="0" err="1">
                <a:solidFill>
                  <a:srgbClr val="000000"/>
                </a:solidFill>
                <a:ea typeface="Pretendard SemiBold"/>
              </a:rPr>
              <a:t>쉽지않음</a:t>
            </a:r>
            <a:endParaRPr lang="en-US" altLang="ko-KR" sz="4100" dirty="0">
              <a:solidFill>
                <a:srgbClr val="000000"/>
              </a:solidFill>
              <a:ea typeface="Pretendard SemiBold"/>
            </a:endParaRPr>
          </a:p>
          <a:p>
            <a:pPr marL="8636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endParaRPr lang="ko-KR" sz="4100" b="0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81100" y="990600"/>
            <a:ext cx="162179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7899"/>
              </a:lnSpc>
            </a:pPr>
            <a:r>
              <a:rPr lang="ko-KR" altLang="en-US" sz="3000" dirty="0" err="1">
                <a:solidFill>
                  <a:srgbClr val="00074E"/>
                </a:solidFill>
                <a:ea typeface="Pretendard SemiBold"/>
              </a:rPr>
              <a:t>느낀점</a:t>
            </a:r>
            <a:endParaRPr lang="ko-KR" altLang="ko-KR" sz="3000" dirty="0">
              <a:solidFill>
                <a:srgbClr val="00074E"/>
              </a:solidFill>
              <a:ea typeface="Pretendard SemiBold"/>
            </a:endParaRPr>
          </a:p>
          <a:p>
            <a:pPr lvl="0" algn="l">
              <a:lnSpc>
                <a:spcPct val="107899"/>
              </a:lnSpc>
            </a:pPr>
            <a:endParaRPr lang="ko-KR" sz="3000" b="0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323</Words>
  <Application>Microsoft Office PowerPoint</Application>
  <PresentationFormat>사용자 지정</PresentationFormat>
  <Paragraphs>81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Pretendard Regular</vt:lpstr>
      <vt:lpstr>Calibri</vt:lpstr>
      <vt:lpstr>Pretendard Medium</vt:lpstr>
      <vt:lpstr>Arial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samsung</dc:creator>
  <cp:lastModifiedBy>김남균</cp:lastModifiedBy>
  <cp:revision>8</cp:revision>
  <dcterms:created xsi:type="dcterms:W3CDTF">2006-08-16T00:00:00Z</dcterms:created>
  <dcterms:modified xsi:type="dcterms:W3CDTF">2025-12-10T18:37:24Z</dcterms:modified>
</cp:coreProperties>
</file>